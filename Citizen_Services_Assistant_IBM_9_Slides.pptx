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183752"/>
                </a:solidFill>
                <a:latin typeface="Aptos"/>
              </a:defRPr>
            </a:pPr>
            <a:r>
              <a:t>CITIZEN SERVICES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74519"/>
            <a:ext cx="69494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0">
                <a:solidFill>
                  <a:srgbClr val="3070B4"/>
                </a:solidFill>
                <a:latin typeface="Aptos"/>
              </a:defRPr>
            </a:pPr>
            <a:r>
              <a:t>AI for Governance &amp; Citizen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14600"/>
            <a:ext cx="7132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278B84"/>
                </a:solidFill>
                <a:latin typeface="Aptos"/>
              </a:defRPr>
            </a:pPr>
            <a:r>
              <a:t>Making Government Schemes Simple for Everyone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34440"/>
            <a:ext cx="2971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82296" cy="356616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1399032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IBM 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1" y="1828800"/>
            <a:ext cx="2514600" cy="2834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IBM Bob</a:t>
            </a:r>
            <a:br/>
            <a:r>
              <a:t>+</a:t>
            </a:r>
            <a:br/>
            <a:r>
              <a:t>IBM watsonx.ai</a:t>
            </a:r>
            <a:br/>
            <a:br/>
            <a:r>
              <a:t>15 central government schemes</a:t>
            </a:r>
            <a:br/>
            <a:r>
              <a:t>5 supported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257800"/>
            <a:ext cx="6858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5C6974"/>
                </a:solidFill>
                <a:latin typeface="Aptos"/>
              </a:defRPr>
            </a:pPr>
            <a:r>
              <a:t>Simple • Accessible • Citizen-focused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Why citizens need simpler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82296" cy="347472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01952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Awareness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31720"/>
            <a:ext cx="475488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Many citizens do not know which government schemes may help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82296" cy="347472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Complex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331720"/>
            <a:ext cx="475488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Eligibility rules, documents and application steps can be confusing.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577840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83752"/>
                </a:solidFill>
                <a:latin typeface="Aptos"/>
              </a:defRPr>
            </a:pPr>
            <a:r>
              <a:t>Language barriers make this even harder.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One simple chat interface for scheme guidance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82296" cy="141732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028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Find suitable schemes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1645920"/>
            <a:ext cx="82296" cy="141732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81051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24028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Check basic eligibility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82296" cy="141732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81051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4028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Understand documents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04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520439"/>
            <a:ext cx="82296" cy="141732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685031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11480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Learn how to apply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5204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59" y="3520439"/>
            <a:ext cx="82296" cy="141732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3685031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4114800"/>
            <a:ext cx="2880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Use regional 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9875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83752"/>
                </a:solidFill>
                <a:latin typeface="Aptos"/>
              </a:defRPr>
            </a:pPr>
            <a:r>
              <a:t>Languages: English • Hindi • Marathi • Gujarati • Kannada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From a citizen question to a clear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73736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3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151790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83752"/>
                </a:solidFill>
                <a:latin typeface="Aptos"/>
              </a:defRPr>
            </a:pPr>
            <a:r>
              <a:t>Citizen</a:t>
            </a:r>
            <a:br/>
            <a: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0574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78B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874519"/>
            <a:ext cx="173736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3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993392"/>
            <a:ext cx="151790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83752"/>
                </a:solidFill>
                <a:latin typeface="Aptos"/>
              </a:defRPr>
            </a:pPr>
            <a:r>
              <a:t>AI</a:t>
            </a:r>
            <a:br/>
            <a:r>
              <a:t>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0574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78B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874519"/>
            <a:ext cx="173736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30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993392"/>
            <a:ext cx="151790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83752"/>
                </a:solidFill>
                <a:latin typeface="Aptos"/>
              </a:defRPr>
            </a:pPr>
            <a:r>
              <a:t>Scheme</a:t>
            </a:r>
            <a:br/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574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78B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74519"/>
            <a:ext cx="1737360" cy="1143000"/>
          </a:xfrm>
          <a:prstGeom prst="roundRect">
            <a:avLst/>
          </a:prstGeom>
          <a:solidFill>
            <a:srgbClr val="E5F6F3"/>
          </a:solidFill>
          <a:ln>
            <a:solidFill>
              <a:srgbClr val="27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1993392"/>
            <a:ext cx="151790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83752"/>
                </a:solidFill>
                <a:latin typeface="Aptos"/>
              </a:defRPr>
            </a:pPr>
            <a:r>
              <a:t>Eligibility</a:t>
            </a:r>
            <a:br/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0574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278B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74519"/>
            <a:ext cx="1737360" cy="1143000"/>
          </a:xfrm>
          <a:prstGeom prst="roundRect">
            <a:avLst/>
          </a:prstGeom>
          <a:solidFill>
            <a:srgbClr val="E5F6F3"/>
          </a:solidFill>
          <a:ln>
            <a:solidFill>
              <a:srgbClr val="27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0967" y="1993392"/>
            <a:ext cx="151790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83752"/>
                </a:solidFill>
                <a:latin typeface="Aptos"/>
              </a:defRPr>
            </a:pPr>
            <a:r>
              <a:t>Simple</a:t>
            </a:r>
            <a:br/>
            <a:r>
              <a:t>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840480"/>
            <a:ext cx="8503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0" y="3840480"/>
            <a:ext cx="82296" cy="1417320"/>
          </a:xfrm>
          <a:prstGeom prst="roundRect">
            <a:avLst/>
          </a:prstGeom>
          <a:solidFill>
            <a:srgbClr val="E0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4832" y="4005072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2" y="4434840"/>
            <a:ext cx="8046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“Can I get a government scheme for farming?” → relevant scheme → basic eligibility → benefits + documents + application guidance.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Powered by IBM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How the main technologies work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82296" cy="141732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1051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IBM Bob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2926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AI development + runtime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82296" cy="141732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1051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IBM watsonx.ai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40280"/>
            <a:ext cx="2926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Natural-language AI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82296" cy="1417320"/>
          </a:xfrm>
          <a:prstGeom prst="roundRect">
            <a:avLst/>
          </a:prstGeom>
          <a:solidFill>
            <a:srgbClr val="E0A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81051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240280"/>
            <a:ext cx="2926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Lets Bob fetch scheme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703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14600" y="3703320"/>
            <a:ext cx="82296" cy="141732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386791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Python / Flask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4297680"/>
            <a:ext cx="2926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Application and eligibility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3703320"/>
            <a:ext cx="82296" cy="141732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86791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JSON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297680"/>
            <a:ext cx="2926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15 government scheme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15000"/>
            <a:ext cx="10149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83752"/>
                </a:solidFill>
                <a:latin typeface="Aptos"/>
              </a:defRPr>
            </a:pPr>
            <a:r>
              <a:t>IBM Bob ↔ MCP ↔ Scheme Data   |   watsonx.ai ↔ Citizen Conversation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Designed for simple and practical citizen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82296" cy="132588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105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Scheme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1645920"/>
            <a:ext cx="82296" cy="132588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18105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2402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Eligibility Checker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645920"/>
            <a:ext cx="82296" cy="132588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8105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2402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Document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45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20" y="1645920"/>
            <a:ext cx="82296" cy="132588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18105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2402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Application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4747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474720"/>
            <a:ext cx="82296" cy="132588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6393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0690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Multilingual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34747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20440" y="3474720"/>
            <a:ext cx="82296" cy="132588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6393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40690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Simple Chat Interface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4747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3474720"/>
            <a:ext cx="82296" cy="132588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3639312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🛡️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4069080"/>
            <a:ext cx="2057400" cy="59435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Responsible &amp; Safe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AI supports the citizen — it does not make official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82296" cy="356616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10512"/>
            <a:ext cx="4800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Safety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4800600" cy="2834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Eligibility is calculated by deterministic Python rules.</a:t>
            </a:r>
            <a:br/>
            <a:r>
              <a:t>• AI explains the result; it does not decide it.</a:t>
            </a:r>
            <a:br/>
            <a:r>
              <a:t>• No eligibility guarantees are given.</a:t>
            </a:r>
            <a:br/>
            <a:r>
              <a:t>• Official sources and verification dates are stored.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82296" cy="356616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810512"/>
            <a:ext cx="4800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Privacy &amp;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4800600" cy="2834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User information is kept temporarily in memory.</a:t>
            </a:r>
            <a:br/>
            <a:r>
              <a:t>• Responses are labelled “AI Guidance”.</a:t>
            </a:r>
            <a:br/>
            <a:r>
              <a:t>• Missing information is clearly identified.</a:t>
            </a:r>
            <a:br/>
            <a:r>
              <a:t>• Users are told to verify final details officially.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83752"/>
                </a:solidFill>
                <a:latin typeface="Aptos"/>
              </a:defRPr>
            </a:pPr>
            <a:r>
              <a:t>Social Impact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051560"/>
            <a:ext cx="914400" cy="73152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5C6974"/>
                </a:solidFill>
                <a:latin typeface="Aptos"/>
              </a:defRPr>
            </a:pPr>
            <a:r>
              <a:t>Making public services easier to reach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57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82296" cy="4023360"/>
          </a:xfrm>
          <a:prstGeom prst="roundRect">
            <a:avLst/>
          </a:prstGeom>
          <a:solidFill>
            <a:srgbClr val="27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64792"/>
            <a:ext cx="4800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94560"/>
            <a:ext cx="4800600" cy="3291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Easier government information</a:t>
            </a:r>
            <a:br/>
            <a:r>
              <a:t>• Better scheme discovery</a:t>
            </a:r>
            <a:br/>
            <a:r>
              <a:t>• Fewer language barriers</a:t>
            </a:r>
            <a:br/>
            <a:r>
              <a:t>• Digital empowerment</a:t>
            </a:r>
            <a:br/>
            <a:r>
              <a:t>• Support for low-literacy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57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82296" cy="402336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64792"/>
            <a:ext cx="4800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94560"/>
            <a:ext cx="4800600" cy="3291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• Voice input</a:t>
            </a:r>
            <a:br/>
            <a:r>
              <a:t>• More Indian languages</a:t>
            </a:r>
            <a:br/>
            <a:r>
              <a:t>• State-level schemes</a:t>
            </a:r>
            <a:br/>
            <a:r>
              <a:t>• WhatsApp / SMS support</a:t>
            </a:r>
            <a:br/>
            <a:r>
              <a:t>• Live government data</a:t>
            </a:r>
            <a:br/>
            <a:r>
              <a:t>• Offline / PWA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320040"/>
            <a:ext cx="1417320" cy="1417320"/>
          </a:xfrm>
          <a:prstGeom prst="ellipse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5806440"/>
            <a:ext cx="1143000" cy="1143000"/>
          </a:xfrm>
          <a:prstGeom prst="ellipse">
            <a:avLst/>
          </a:prstGeom>
          <a:solidFill>
            <a:srgbClr val="E5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11480" y="5943600"/>
            <a:ext cx="1005840" cy="1005840"/>
          </a:xfrm>
          <a:prstGeom prst="ellipse">
            <a:avLst/>
          </a:prstGeom>
          <a:solidFill>
            <a:srgbClr val="FC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18375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966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78B84"/>
                </a:solidFill>
                <a:latin typeface="Aptos"/>
              </a:defRPr>
            </a:pPr>
            <a:r>
              <a:t>AI + Government Services + Citizens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423160"/>
            <a:ext cx="8503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423160"/>
            <a:ext cx="82296" cy="1508760"/>
          </a:xfrm>
          <a:prstGeom prst="roundRect">
            <a:avLst/>
          </a:prstGeom>
          <a:solidFill>
            <a:srgbClr val="30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2587752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1">
                <a:solidFill>
                  <a:srgbClr val="183752"/>
                </a:solidFill>
                <a:latin typeface="Aptos"/>
              </a:defRPr>
            </a:pPr>
            <a:r>
              <a:t>What We Deliver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3017520"/>
            <a:ext cx="804672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Find schemes • Understand eligibility • Learn documents • Get application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183752"/>
                </a:solidFill>
                <a:latin typeface="Aptos"/>
              </a:defRPr>
            </a:pPr>
            <a:r>
              <a:t>Simple Information. Better Access. Empowered Citizens.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532120"/>
            <a:ext cx="10058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5C6974"/>
                </a:solidFill>
                <a:latin typeface="Aptos"/>
              </a:defRPr>
            </a:pPr>
            <a:r>
              <a:t>Educational demonstration only — verify final information on official government portals.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0">
                <a:solidFill>
                  <a:srgbClr val="5C6974"/>
                </a:solidFill>
                <a:latin typeface="Aptos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